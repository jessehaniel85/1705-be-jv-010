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4"/>
  </p:sldMasterIdLst>
  <p:notesMasterIdLst>
    <p:notesMasterId r:id="rId5"/>
  </p:notesMasterIdLst>
  <p:sldIdLst>
    <p:sldId id="256" r:id="rId11"/>
    <p:sldId id="257" r:id="rId10"/>
    <p:sldId id="258" r:id="rId9"/>
    <p:sldId id="259" r:id="rId8"/>
    <p:sldId id="260" r:id="rId7"/>
    <p:sldId id="261" r:id="rId6"/>
    <p:sldId id="262" r:id="rId30"/>
    <p:sldId id="263" r:id="rId31"/>
    <p:sldId id="264" r:id="rId32"/>
    <p:sldId id="265" r:id="rId33"/>
    <p:sldId id="266" r:id="rId34"/>
    <p:sldId id="267" r:id="rId35"/>
    <p:sldId id="268" r:id="rId36"/>
    <p:sldId id="269" r:id="rId37"/>
    <p:sldId id="270" r:id="rId38"/>
    <p:sldId id="271" r:id="rId39"/>
    <p:sldId id="272" r:id="rId40"/>
    <p:sldId id="273" r:id="rId41"/>
    <p:sldId id="274" r:id="rId42"/>
  </p:sldIdLst>
  <p:sldSz cy="5143500" cx="9144000"/>
  <p:notesSz cx="6858000" cy="9144000"/>
  <p:embeddedFontLst>
    <p:embeddedFont>
      <p:font typeface="Ubuntu Light"/>
      <p:regular r:id="rId12"/>
      <p:bold r:id="rId13"/>
      <p:italic r:id="rId14"/>
      <p:boldItalic r:id="rId15"/>
    </p:embeddedFont>
    <p:embeddedFont>
      <p:font typeface="Ubuntu"/>
      <p:regular r:id="rId16"/>
      <p:bold r:id="rId17"/>
      <p:italic r:id="rId18"/>
      <p:boldItalic r:id="rId19"/>
    </p:embeddedFont>
    <p:embeddedFont>
      <p:font typeface="Ubuntu Medium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  <p:embeddedFont>
      <p:font typeface="Fira Code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6.xml"/><Relationship Id="rId7" Type="http://schemas.openxmlformats.org/officeDocument/2006/relationships/slide" Target="slides/slide5.xml"/><Relationship Id="rId8" Type="http://schemas.openxmlformats.org/officeDocument/2006/relationships/slide" Target="slides/slide4.xml"/><Relationship Id="rId9" Type="http://schemas.openxmlformats.org/officeDocument/2006/relationships/slide" Target="slides/slide3.xml"/><Relationship Id="rId10" Type="http://schemas.openxmlformats.org/officeDocument/2006/relationships/slide" Target="slides/slide2.xml"/><Relationship Id="rId11" Type="http://schemas.openxmlformats.org/officeDocument/2006/relationships/slide" Target="slides/slide1.xml"/><Relationship Id="rId12" Type="http://schemas.openxmlformats.org/officeDocument/2006/relationships/font" Target="fonts/UbuntuLight-regular.fntdata"/><Relationship Id="rId13" Type="http://schemas.openxmlformats.org/officeDocument/2006/relationships/font" Target="fonts/UbuntuLight-bold.fntdata"/><Relationship Id="rId14" Type="http://schemas.openxmlformats.org/officeDocument/2006/relationships/font" Target="fonts/UbuntuLight-italic.fntdata"/><Relationship Id="rId15" Type="http://schemas.openxmlformats.org/officeDocument/2006/relationships/font" Target="fonts/UbuntuLight-boldItalic.fntdata"/><Relationship Id="rId16" Type="http://schemas.openxmlformats.org/officeDocument/2006/relationships/font" Target="fonts/Ubuntu-regular.fntdata"/><Relationship Id="rId17" Type="http://schemas.openxmlformats.org/officeDocument/2006/relationships/font" Target="fonts/Ubuntu-bold.fntdata"/><Relationship Id="rId18" Type="http://schemas.openxmlformats.org/officeDocument/2006/relationships/font" Target="fonts/Ubuntu-italic.fntdata"/><Relationship Id="rId19" Type="http://schemas.openxmlformats.org/officeDocument/2006/relationships/font" Target="fonts/Ubuntu-boldItalic.fntdata"/><Relationship Id="rId20" Type="http://schemas.openxmlformats.org/officeDocument/2006/relationships/font" Target="fonts/UbuntuMedium-regular.fntdata"/><Relationship Id="rId21" Type="http://schemas.openxmlformats.org/officeDocument/2006/relationships/font" Target="fonts/UbuntuMedium-bold.fntdata"/><Relationship Id="rId22" Type="http://schemas.openxmlformats.org/officeDocument/2006/relationships/font" Target="fonts/UbuntuMedium-italic.fntdata"/><Relationship Id="rId23" Type="http://schemas.openxmlformats.org/officeDocument/2006/relationships/font" Target="fonts/UbuntuMedium-boldItalic.fntdata"/><Relationship Id="rId24" Type="http://schemas.openxmlformats.org/officeDocument/2006/relationships/font" Target="fonts/Lato-regular.fntdata"/><Relationship Id="rId25" Type="http://schemas.openxmlformats.org/officeDocument/2006/relationships/font" Target="fonts/Lato-bold.fntdata"/><Relationship Id="rId26" Type="http://schemas.openxmlformats.org/officeDocument/2006/relationships/font" Target="fonts/Lato-italic.fntdata"/><Relationship Id="rId27" Type="http://schemas.openxmlformats.org/officeDocument/2006/relationships/font" Target="fonts/Lato-boldItalic.fntdata"/><Relationship Id="rId28" Type="http://schemas.openxmlformats.org/officeDocument/2006/relationships/font" Target="fonts/FiraCode-regular.fntdata"/><Relationship Id="rId29" Type="http://schemas.openxmlformats.org/officeDocument/2006/relationships/font" Target="fonts/FiraCode-bold.fntdata"/><Relationship Id="rId30" Type="http://schemas.openxmlformats.org/officeDocument/2006/relationships/slide" Target="slides/slide7.xml"/><Relationship Id="rId31" Type="http://schemas.openxmlformats.org/officeDocument/2006/relationships/slide" Target="slides/slide8.xml"/><Relationship Id="rId32" Type="http://schemas.openxmlformats.org/officeDocument/2006/relationships/slide" Target="slides/slide9.xml"/><Relationship Id="rId33" Type="http://schemas.openxmlformats.org/officeDocument/2006/relationships/slide" Target="slides/slide10.xml"/><Relationship Id="rId34" Type="http://schemas.openxmlformats.org/officeDocument/2006/relationships/slide" Target="slides/slide11.xml"/><Relationship Id="rId35" Type="http://schemas.openxmlformats.org/officeDocument/2006/relationships/slide" Target="slides/slide12.xml"/><Relationship Id="rId36" Type="http://schemas.openxmlformats.org/officeDocument/2006/relationships/slide" Target="slides/slide13.xml"/><Relationship Id="rId37" Type="http://schemas.openxmlformats.org/officeDocument/2006/relationships/slide" Target="slides/slide14.xml"/><Relationship Id="rId38" Type="http://schemas.openxmlformats.org/officeDocument/2006/relationships/slide" Target="slides/slide15.xml"/><Relationship Id="rId39" Type="http://schemas.openxmlformats.org/officeDocument/2006/relationships/slide" Target="slides/slide16.xml"/><Relationship Id="rId40" Type="http://schemas.openxmlformats.org/officeDocument/2006/relationships/slide" Target="slides/slide17.xml"/><Relationship Id="rId41" Type="http://schemas.openxmlformats.org/officeDocument/2006/relationships/slide" Target="slides/slide18.xml"/><Relationship Id="rId42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a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title="Ad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050" y="1994575"/>
            <a:ext cx="1867250" cy="11543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title"/>
          </p:nvPr>
        </p:nvSpPr>
        <p:spPr>
          <a:xfrm>
            <a:off x="691650" y="2017200"/>
            <a:ext cx="3370500" cy="4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Ubuntu Light"/>
              <a:buNone/>
              <a:defRPr sz="2200">
                <a:latin typeface="Ubuntu Light"/>
                <a:ea typeface="Ubuntu Light"/>
                <a:cs typeface="Ubuntu Light"/>
                <a:sym typeface="Ubuntu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2" type="title"/>
          </p:nvPr>
        </p:nvSpPr>
        <p:spPr>
          <a:xfrm>
            <a:off x="691650" y="2582150"/>
            <a:ext cx="3370500" cy="5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Ubuntu Medium"/>
              <a:buNone/>
              <a:defRPr>
                <a:latin typeface="Ubuntu Medium"/>
                <a:ea typeface="Ubuntu Medium"/>
                <a:cs typeface="Ubuntu Medium"/>
                <a:sym typeface="Ubuntu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49225" y="-18825"/>
            <a:ext cx="198350" cy="5208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sor">
  <p:cSld name="CUSTOM_2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 title="BG colorido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/>
          <p:nvPr>
            <p:ph type="title"/>
          </p:nvPr>
        </p:nvSpPr>
        <p:spPr>
          <a:xfrm>
            <a:off x="683025" y="2071050"/>
            <a:ext cx="3921300" cy="10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/>
        </p:txBody>
      </p:sp>
      <p:pic>
        <p:nvPicPr>
          <p:cNvPr id="17" name="Google Shape;17;p3" title="Ad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78399" y="4348525"/>
            <a:ext cx="737449" cy="45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313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371FF"/>
              </a:buClr>
              <a:buSzPts val="2200"/>
              <a:buFont typeface="Ubuntu"/>
              <a:buNone/>
              <a:defRPr sz="2200">
                <a:solidFill>
                  <a:srgbClr val="2371FF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511075"/>
            <a:ext cx="8520600" cy="30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8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" name="Google Shape;22;p4"/>
          <p:cNvSpPr txBox="1"/>
          <p:nvPr>
            <p:ph idx="2" type="subTitle"/>
          </p:nvPr>
        </p:nvSpPr>
        <p:spPr>
          <a:xfrm>
            <a:off x="311700" y="720025"/>
            <a:ext cx="5698800" cy="3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200"/>
              <a:buFont typeface="Lato"/>
              <a:buNone/>
              <a:defRPr sz="1200"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Limpo">
  <p:cSld name="CUSTOM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fismo ADA">
  <p:cSld name="CUSTOM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6" title="verde.png"/>
          <p:cNvPicPr preferRelativeResize="0"/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6076250" y="2628925"/>
            <a:ext cx="4844777" cy="3275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erramento" type="blank">
  <p:cSld name="BLANK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7" title="Ad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050" y="1994575"/>
            <a:ext cx="1867250" cy="1154351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7"/>
          <p:cNvSpPr txBox="1"/>
          <p:nvPr/>
        </p:nvSpPr>
        <p:spPr>
          <a:xfrm>
            <a:off x="778150" y="2431300"/>
            <a:ext cx="27312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rgbClr val="181C23"/>
                </a:solidFill>
                <a:latin typeface="Ubuntu Light"/>
                <a:ea typeface="Ubuntu Light"/>
                <a:cs typeface="Ubuntu Light"/>
                <a:sym typeface="Ubuntu Light"/>
              </a:rPr>
              <a:t>print("thank you")</a:t>
            </a:r>
            <a:endParaRPr sz="1700">
              <a:solidFill>
                <a:srgbClr val="181C23"/>
              </a:solidFill>
              <a:latin typeface="Ubuntu Light"/>
              <a:ea typeface="Ubuntu Light"/>
              <a:cs typeface="Ubuntu Light"/>
              <a:sym typeface="Ubuntu Light"/>
            </a:endParaRPr>
          </a:p>
        </p:txBody>
      </p:sp>
      <p:pic>
        <p:nvPicPr>
          <p:cNvPr id="29" name="Google Shape;29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10800000">
            <a:off x="3507151" y="4767018"/>
            <a:ext cx="5641001" cy="38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BF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Arquitetura de Software e Ágil II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t>BE-JV-010 · EmbarqueTI · Nível III · Apresentação do Curso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Metodologia Ada</a:t>
            </a:r>
          </a:p>
          <a:p>
            <a:r>
              <a:t>Conteúdo do módulo</a:t>
            </a:r>
          </a:p>
          <a:p>
            <a:r>
              <a:t>Cronograma (9 encontros)</a:t>
            </a:r>
          </a:p>
          <a:p>
            <a:r>
              <a:t>Os dois projetos</a:t>
            </a:r>
          </a:p>
          <a:p>
            <a:r>
              <a:t>Avaliação e rubrica</a:t>
            </a:r>
          </a:p>
          <a:p>
            <a:r>
              <a:t>IA &amp; agentes: por que entram aqui</a:t>
            </a:r>
          </a:p>
          <a:p>
            <a:r>
              <a:t>Combinados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Metodologia Ada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Aprendizagem ativa: PBL + Sala de Aula Invertida (adaptada)</a:t>
            </a:r>
          </a:p>
          <a:p>
            <a:r>
              <a:t>1ª metade: problema → discussão → solução ao vivo</a:t>
            </a:r>
          </a:p>
          <a:p>
            <a:r>
              <a:t>2ª metade: você evolui a solução + trabalha no projeto em grupo</a:t>
            </a:r>
          </a:p>
          <a:p>
            <a:pPr lvl="1"/>
            <a:r>
              <a:t>Estudo e projeto acontecem DENTRO da aula</a:t>
            </a:r>
          </a:p>
          <a:p>
            <a:r>
              <a:t>Turma sênior: debate de alto nível + ponte com o legado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Conteúdo do módulo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Microsserviços e DDD (fronteiras de domínio)</a:t>
            </a:r>
          </a:p>
          <a:p>
            <a:r>
              <a:t>Consistência distribuída e padrão SAGA</a:t>
            </a:r>
          </a:p>
          <a:p>
            <a:r>
              <a:t>Cache compartilhado (Redis)</a:t>
            </a:r>
          </a:p>
          <a:p>
            <a:r>
              <a:t>Mensageria: filas (RabbitMQ) e tópicos (Kafka)</a:t>
            </a:r>
          </a:p>
          <a:p>
            <a:r>
              <a:t>Resiliência: retry, circuit breaker, DLQ</a:t>
            </a:r>
          </a:p>
          <a:p>
            <a:r>
              <a:t>Contract testing (PACT)</a:t>
            </a:r>
          </a:p>
          <a:p>
            <a:pPr lvl="1"/>
            <a:r>
              <a:t>Fio transversal: IA &amp; agentes em cada tema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Cronograma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22/06 Abertura + DDD e fronteiras</a:t>
            </a:r>
          </a:p>
          <a:p>
            <a:r>
              <a:t>24/06 Consistência distribuída e SAGA</a:t>
            </a:r>
          </a:p>
          <a:p>
            <a:r>
              <a:t>26/06 Cache com Redis</a:t>
            </a:r>
          </a:p>
          <a:p>
            <a:r>
              <a:t>29/06 Comunicação assíncrona (producer/consumer)</a:t>
            </a:r>
          </a:p>
          <a:p>
            <a:r>
              <a:t>01/07 Filas com RabbitMQ + DLQ</a:t>
            </a:r>
          </a:p>
          <a:p>
            <a:r>
              <a:t>03/07 Tópicos/eventos com Kafka</a:t>
            </a:r>
          </a:p>
          <a:p>
            <a:r>
              <a:t>06/07 Resiliência e retry</a:t>
            </a:r>
          </a:p>
          <a:p>
            <a:r>
              <a:t>08/07 Contract testing (PACT)</a:t>
            </a:r>
          </a:p>
          <a:p>
            <a:r>
              <a:t>10/07 Bancas dos projetos + devolutiva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Projeto guiado (em aula)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API de Comprovantes PIX</a:t>
            </a:r>
          </a:p>
          <a:p>
            <a:r>
              <a:t>Construída ao vivo, incremento a cada aula</a:t>
            </a:r>
          </a:p>
          <a:p>
            <a:r>
              <a:t>POST → 202 → fila → gravação; consulta com cache + fallback</a:t>
            </a:r>
          </a:p>
          <a:p>
            <a:pPr lvl="1"/>
            <a:r>
              <a:t>É a referência dos padrões — não é avaliado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Projeto final (em grupo)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Tema de LIVRE escolha do grupo</a:t>
            </a:r>
          </a:p>
          <a:p>
            <a:r>
              <a:t>O que amarra são os CRITÉRIOS de avaliação, não o tema</a:t>
            </a:r>
          </a:p>
          <a:p>
            <a:r>
              <a:t>Grupos de 3 a 5 (sugestão); escopo escala com o tamanho</a:t>
            </a:r>
          </a:p>
          <a:p>
            <a:r>
              <a:t>Desenvolvido na 2ª metade das aulas; defesa na banca (10/07)</a:t>
            </a:r>
          </a:p>
          <a:p>
            <a:pPr lvl="1"/>
            <a:r>
              <a:t>Formem os grupos até a próxima aula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Avaliação e rubrica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Rubrica de 9 critérios (decomposição, async, cache, resiliência, testes, decisões...)</a:t>
            </a:r>
          </a:p>
          <a:p>
            <a:r>
              <a:t>Avalia DOMÍNIO do padrão e DECISÃO arquitetural — não a infra disponível</a:t>
            </a:r>
          </a:p>
          <a:p>
            <a:r>
              <a:t>Banca de defesa + auto-avaliação</a:t>
            </a:r>
          </a:p>
          <a:p>
            <a:r>
              <a:t>Listas de exercícios e participação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Avalie a satisfação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Toda aula é possível (e muito importante!) avaliar no LMS</a:t>
            </a:r>
          </a:p>
          <a:p>
            <a:r>
              <a:t>Seu NPS orienta os ajustes da próxima aula</a:t>
            </a:r>
          </a:p>
          <a:p>
            <a:r>
              <a:t>Meta de excelência Ada: 90+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IA &amp; agentes: por que entram aqui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 módulo é de 2024; a realidade de quem opera esses sistemas mudou</a:t>
            </a:r>
          </a:p>
          <a:p>
            <a:r>
              <a:t>Cada padrão clássico tem um paralelo direto com IA/agentes</a:t>
            </a:r>
          </a:p>
          <a:p>
            <a:pPr lvl="1"/>
            <a:r>
              <a:t>Bounded context = fronteira de agente; SAGA = agentic workflow</a:t>
            </a:r>
          </a:p>
          <a:p>
            <a:pPr lvl="1"/>
            <a:r>
              <a:t>Cache = semantic caching/RAG; tópicos = memória de agente</a:t>
            </a:r>
          </a:p>
          <a:p>
            <a:r>
              <a:t>Não é hype: sempre ancorado no padrão de engenharia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Combinados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Início, intervalo e término (acordar horários da turma)</a:t>
            </a:r>
          </a:p>
          <a:p>
            <a:r>
              <a:t>Estar online ≠ estar presente — câmera e participação contam</a:t>
            </a:r>
          </a:p>
          <a:p>
            <a:r>
              <a:t>Ambiente: tudo via Nexus corporativo; sem depender de Docker/sites externos</a:t>
            </a:r>
          </a:p>
          <a:p>
            <a:r>
              <a:t>Dúvidas são bem-vindas durante o live coding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DDD: a ferramenta para decidir ONDE cortar o sistema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problema do corte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Cortar no lugar errado = monólito distribuído (o pior dos dois mundos)</a:t>
            </a:r>
          </a:p>
          <a:p>
            <a:r>
              <a:t>A pergunta certa não é 'em quantos serviços eu divido?'</a:t>
            </a:r>
          </a:p>
          <a:p>
            <a:r>
              <a:t>É 'quais fronteiras mudam por razões e ritmos diferentes?'</a:t>
            </a:r>
          </a:p>
          <a:p>
            <a:r>
              <a:t>Decisão de DOMÍNIO, não de tecnologia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DDD em dois níveis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Estratégico — ONDE estão as fronteiras (viram microsserviços)</a:t>
            </a:r>
          </a:p>
          <a:p>
            <a:pPr lvl="1"/>
            <a:r>
              <a:t>domínio, subdomínios, linguagem ubíqua, bounded context, event storming</a:t>
            </a:r>
          </a:p>
          <a:p>
            <a:r>
              <a:t>Tático — COMO modelar dentro de cada fronteira</a:t>
            </a:r>
          </a:p>
          <a:p>
            <a:pPr lvl="1"/>
            <a:r>
              <a:t>entidades, value objects, agregados</a:t>
            </a:r>
          </a:p>
          <a:p>
            <a:r>
              <a:t>Não é arquitetura em camadas; não é framework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Blocos táticos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Entidade — tem identidade e ciclo de vida (ex.: Comprovante, por id)</a:t>
            </a:r>
          </a:p>
          <a:p>
            <a:r>
              <a:t>Value Object — imutável, igualdade por valor (ex.: ChavePix, Dinheiro)</a:t>
            </a:r>
          </a:p>
          <a:p>
            <a:r>
              <a:t>Agregado + raiz — cluster que muda junto e guarda a invariante</a:t>
            </a:r>
          </a:p>
          <a:p>
            <a:pPr lvl="1"/>
            <a:r>
              <a:t>1 transação = 1 agregado; referência entre agregados por id</a:t>
            </a:r>
          </a:p>
          <a:p>
            <a:r>
              <a:t>Regra de ouro: o agregado NUNCA atravessa fronteira de serviço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Bounded Context &amp; Context Map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Mesmo termo, significados diferentes por contexto (o 'Cliente' de cada área)</a:t>
            </a:r>
          </a:p>
          <a:p>
            <a:r>
              <a:t>Bounded context = fronteira do modelo e da linguagem ubíqua</a:t>
            </a:r>
          </a:p>
          <a:p>
            <a:r>
              <a:t>1 contexto → 1 ou mais microsserviços (nunca o contrário)</a:t>
            </a:r>
          </a:p>
          <a:p>
            <a:r>
              <a:t>Context map: customer/supplier, conformist, ACL, OHS/published language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 Storming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Oficina com post-its: negócio + técnicos modelam o fluxo juntos</a:t>
            </a:r>
          </a:p>
          <a:p>
            <a:r>
              <a:t>🟧 evento · 🟦 comando · 🟨 agregado · 🟪 política · 🧍 ator · 🟥 hotspot</a:t>
            </a:r>
          </a:p>
          <a:p>
            <a:r>
              <a:t>Eventos → comandos/atores → agregados → políticas → contextos</a:t>
            </a:r>
          </a:p>
          <a:p>
            <a:pPr lvl="1"/>
            <a:r>
              <a:t>Políticas viram mensageria; hotspots viram requisitos de resiliência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Dois cenários (no material do aluno)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1) Comprovantes PIX — do relato do negócio aos microsserviços, ao vivo</a:t>
            </a:r>
          </a:p>
          <a:p>
            <a:r>
              <a:t>2) Fatura de cartão — invariante 'soma dos lançamentos = total'</a:t>
            </a:r>
          </a:p>
          <a:p>
            <a:r>
              <a:t>Mesmo método; consistência FORTE dentro do agregado, EVENTUAL entre contextos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Microsserviço não é tamanho de código — é fronteira de domínio com dono.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181C23"/>
      </a:dk1>
      <a:lt1>
        <a:srgbClr val="FFFDF8"/>
      </a:lt1>
      <a:dk2>
        <a:srgbClr val="2371FF"/>
      </a:dk2>
      <a:lt2>
        <a:srgbClr val="50E550"/>
      </a:lt2>
      <a:accent1>
        <a:srgbClr val="DAF9DA"/>
      </a:accent1>
      <a:accent2>
        <a:srgbClr val="2371FF"/>
      </a:accent2>
      <a:accent3>
        <a:srgbClr val="DAF9DA"/>
      </a:accent3>
      <a:accent4>
        <a:srgbClr val="ECEDF3"/>
      </a:accent4>
      <a:accent5>
        <a:srgbClr val="C4D2F8"/>
      </a:accent5>
      <a:accent6>
        <a:srgbClr val="9DF09D"/>
      </a:accent6>
      <a:hlink>
        <a:srgbClr val="2371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